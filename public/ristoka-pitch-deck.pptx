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6A34A"/>
            </a:gs>
            <a:gs pos="100000">
              <a:srgbClr val="1580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8229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5331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6A34A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Ristoka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CFCE7"/>
                </a:solidFill>
                <a:latin typeface="Calibri"/>
              </a:defRPr>
            </a:pPr>
            <a:r>
              <a:t>Stocking you up, backing you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F7D0"/>
                </a:solidFill>
                <a:latin typeface="Calibri"/>
              </a:defRPr>
            </a:pPr>
            <a:r>
              <a:t>The supply + financing platform for African retailers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F7D0"/>
                </a:solidFill>
                <a:latin typeface="Calibri"/>
              </a:defRPr>
            </a:pPr>
            <a:r>
              <a:t>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F7D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Retailers are stuck in a cycle of scarcity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54864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No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Retailers buy 2 bags when they could sell 10.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Banks won't lend. M-Shwari caps at KSh 5,000.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They need KSh 30,000–50,000/week.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54864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Middleman 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No direct wholesaler access.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Every layer adds 10-20% markup.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A KSh 3,200 bag of rice costs her KSh 3,800.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54864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No Global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International products are completely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inaccessible. No logistics, no contacts,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no capital to import.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 massive, underserved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4ADE80"/>
                </a:solidFill>
                <a:latin typeface="Calibri"/>
              </a:defRPr>
            </a:pPr>
            <a:r>
              <a:t>$200B+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Africa's informal retail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4ADE80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Of retail is informal / small shops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4ADE80"/>
                </a:solidFill>
                <a:latin typeface="Calibri"/>
              </a:defRPr>
            </a:pPr>
            <a:r>
              <a:t>~$0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Credit available to micro-retailers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280"/>
                </a:solidFill>
                <a:latin typeface="Calibri"/>
              </a:defRPr>
            </a:pPr>
            <a:r>
              <a:t>Every retailer who can stock more, sells more. The constraint isn't demand — it's supply and capital.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Supply + Capital in one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2918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54864" cy="2743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Supply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Aggregated catalog from local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wholesalers, manufacturers, and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international suppliers. Real prices,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real stock,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2918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54864" cy="2743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Embedded Financing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033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Murabaha-based BNPL — we buy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inventory and sell at a transparent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markup. Not interest. 30% down,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rest in installments.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2918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54864" cy="2743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Global Sourcing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033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Products from UK, Turkey, UAE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with logistics handled. Retailers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access international goods they</a:t>
            </a:r>
          </a:p>
          <a:p>
            <a:pPr>
              <a:spcAft>
                <a:spcPts val="84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couldn't reach on their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Simple flow, real transactions</a:t>
            </a:r>
          </a:p>
        </p:txBody>
      </p:sp>
      <p:sp>
        <p:nvSpPr>
          <p:cNvPr id="4" name="Oval 3"/>
          <p:cNvSpPr/>
          <p:nvPr/>
        </p:nvSpPr>
        <p:spPr>
          <a:xfrm>
            <a:off x="1508760" y="25603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11827"/>
                </a:solidFill>
                <a:latin typeface="Calibri"/>
              </a:defRPr>
            </a:pPr>
            <a:r>
              <a:t>Browse &amp;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Retailer searches products,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selects quantity &amp; unit,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confirms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5E7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25603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11827"/>
                </a:solidFill>
                <a:latin typeface="Calibri"/>
              </a:defRPr>
            </a:pPr>
            <a:r>
              <a:t>Choose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M-Pesa, Cash, Card,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or BNPL (Buy Now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Pay Later)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5E7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269479" y="25603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11827"/>
                </a:solidFill>
                <a:latin typeface="Calibri"/>
              </a:defRPr>
            </a:pPr>
            <a:r>
              <a:t>WhatsApp 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Order goes to assigned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sales rep via WhatsApp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for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5E7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149839" y="25603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9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11827"/>
                </a:solidFill>
                <a:latin typeface="Calibri"/>
              </a:defRPr>
            </a:pPr>
            <a:r>
              <a:t>Track &amp; 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Real-time order tracking.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BNPL installments</a:t>
            </a:r>
          </a:p>
          <a:p>
            <a:pPr algn="ctr">
              <a:spcAft>
                <a:spcPts val="78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managed in-app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WhatsApp-first UX — meets retailers where they already 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This is live, not a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Full product catalog with categories, search, filters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Multi-unit pricing (pieces, boxes, cartons)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Flash deals with countdown timers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Order tracking with real-time status updates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BNPL with KYC verification &amp; credit limits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Admin dashboard — orders, inventory, retailers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Sales rep portal — onboarding, payments, BNPL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Wholesaler read-only inventory view</a:t>
            </a:r>
          </a:p>
          <a:p>
            <a:pPr>
              <a:spcAft>
                <a:spcPts val="192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Affiliate referral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286000"/>
            <a:ext cx="3200400" cy="3200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25603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F7D0"/>
                </a:solidFill>
                <a:latin typeface="Calibri"/>
              </a:defRPr>
            </a:pPr>
            <a:r>
              <a:t>Live Demo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480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Retailer app • Admin dashboard</a:t>
            </a:r>
            <a:br/>
            <a:r>
              <a:t>• Sales rep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Built with Next.js, Supabase, TypeScript. Mobile-first. 33 routes.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F7D0"/>
                </a:solidFill>
                <a:latin typeface="Calibri"/>
              </a:defRPr>
            </a:pPr>
            <a:r>
              <a:t>BNPL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Murabaha — Transparent, Ethical Financing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KYC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ID upload, business docs,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admin review. Credit limit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set per retailer.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37744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 Buy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Ristoka purchases stock at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wholesale cost on behalf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of the retailer.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30% Down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Retailer pays 30% upfront.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Reduces our risk exposure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immediately.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7744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Installments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Remaining 70% + markup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spread over 2-4 weekly</a:t>
            </a:r>
          </a:p>
          <a:p>
            <a:pPr algn="ctr">
              <a:spcAft>
                <a:spcPts val="780"/>
              </a:spcAft>
              <a:defRPr sz="1300">
                <a:solidFill>
                  <a:srgbClr val="BBF7D0"/>
                </a:solidFill>
                <a:latin typeface="Calibri"/>
              </a:defRPr>
            </a:pPr>
            <a:r>
              <a:t>installments.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FCE7"/>
                </a:solidFill>
                <a:latin typeface="Calibri"/>
              </a:defRPr>
            </a:pPr>
            <a:r>
              <a:t>This is cost-plus, not interest. The markup is transparent and agreed upfront.</a:t>
            </a:r>
            <a:br/>
            <a:r>
              <a:t>Shariah-compliant. Trust-building. Retailer-friendly.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F7D0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F7D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Every transaction generates revenue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19456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Cash Order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BNPL Order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Order Value (10 bags rice)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KSh 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KSh 35,000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Our Cost (wholesale)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KSh 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KSh 32,000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Supply Margin (8-15%)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KSh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KSh 3,000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BNPL Markup (10-15%)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KSh 3,500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KSh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KSh 6,500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Return on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Capital deployed into inventory generates 9-20% returns per cycle. Cycles repeat every 2-4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Three revenue streams, all transactional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6A34A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Supply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Buy wholesale, sell to retailers</a:t>
            </a:r>
          </a:p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at 8-15% markup. Traditional</a:t>
            </a:r>
          </a:p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distribution economics.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6A34A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BNPL Markup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66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Murabaha markup of 10-15% on</a:t>
            </a:r>
          </a:p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financed orders. Revenue</a:t>
            </a:r>
          </a:p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recognized on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6A34A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Global Sourcing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66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Higher margins on international</a:t>
            </a:r>
          </a:p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products (20-40%). UK, Turkey,</a:t>
            </a:r>
          </a:p>
          <a:p>
            <a:pPr>
              <a:spcAft>
                <a:spcPts val="9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UAE sourcing.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30352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394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803D"/>
                </a:solidFill>
                <a:latin typeface="Calibri"/>
              </a:defRPr>
            </a:pPr>
            <a:r>
              <a:t>💡 Key insight: The capital itself is productive. Every shilling deployed generates margin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Built-in safeguards at every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30% mandatory down payment — immediate capital recovery</a:t>
            </a:r>
          </a:p>
          <a:p>
            <a:pPr>
              <a:spcAft>
                <a:spcPts val="224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KYC verification — ID, business docs, admin review</a:t>
            </a:r>
          </a:p>
          <a:p>
            <a:pPr>
              <a:spcAft>
                <a:spcPts val="224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Individual credit limits — set per retailer, tracked real-time</a:t>
            </a:r>
          </a:p>
          <a:p>
            <a:pPr>
              <a:spcAft>
                <a:spcPts val="224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Overdue detection — blocked from new BNPL if overdue</a:t>
            </a:r>
          </a:p>
          <a:p>
            <a:pPr>
              <a:spcAft>
                <a:spcPts val="224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Inventory as collateral — liquidatable physical goods</a:t>
            </a:r>
          </a:p>
          <a:p>
            <a:pPr>
              <a:spcAft>
                <a:spcPts val="2240"/>
              </a:spcAft>
              <a:defRPr sz="1600">
                <a:solidFill>
                  <a:srgbClr val="374151"/>
                </a:solidFill>
                <a:latin typeface="Calibri"/>
              </a:defRPr>
            </a:pPr>
            <a:r>
              <a:t>✓  Short cycles — 2-4 week repayment, not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28600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Default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If retailer defaults after 30% down</a:t>
            </a:r>
            <a:br/>
            <a:r>
              <a:t>on KSh 35,000 order: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Down payment collected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3657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KSh 10,500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Max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4069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97316"/>
                </a:solidFill>
                <a:latin typeface="Calibri"/>
              </a:defRPr>
            </a:pPr>
            <a:r>
              <a:t>KSh 24,500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Our cost 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4480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74151"/>
                </a:solidFill>
                <a:latin typeface="Calibri"/>
              </a:defRPr>
            </a:pPr>
            <a:r>
              <a:t>KSh 32,000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Risk buffer (5-10% of fund) covers this.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6A34A"/>
            </a:gs>
            <a:gs pos="100000">
              <a:srgbClr val="1580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F7D0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$30,000 – $60,000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FCE7"/>
                </a:solidFill>
                <a:latin typeface="Calibri"/>
              </a:defRPr>
            </a:pPr>
            <a:r>
              <a:t>Seed investment for 20% equity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F7D0"/>
                </a:solidFill>
                <a:latin typeface="Calibri"/>
              </a:defRPr>
            </a:pPr>
            <a:r>
              <a:t>STRUCTURE 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Pure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F7D0"/>
                </a:solidFill>
                <a:latin typeface="Calibri"/>
              </a:defRPr>
            </a:pPr>
            <a:r>
              <a:t>20% ownership. Returns via company</a:t>
            </a:r>
            <a:br/>
            <a:r>
              <a:t>growth and future liquidity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34747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611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F7D0"/>
                </a:solidFill>
                <a:latin typeface="Calibri"/>
              </a:defRPr>
            </a:pPr>
            <a:r>
              <a:t>STRUCTURE OPTION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931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4348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F7D0"/>
                </a:solidFill>
                <a:latin typeface="Calibri"/>
              </a:defRPr>
            </a:pPr>
            <a:r>
              <a:t>Equity + profit-share on BNPL revenue until</a:t>
            </a:r>
            <a:br/>
            <a:r>
              <a:t>1.5x capital returned. Then equity upside continues.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F7D0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F7D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Capital goes where it generates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683514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6522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Inventory 65%</a:t>
            </a:r>
          </a:p>
        </p:txBody>
      </p:sp>
      <p:sp>
        <p:nvSpPr>
          <p:cNvPr id="6" name="Rectangle 5"/>
          <p:cNvSpPr/>
          <p:nvPr/>
        </p:nvSpPr>
        <p:spPr>
          <a:xfrm>
            <a:off x="7566660" y="2286000"/>
            <a:ext cx="126187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58100" y="2331720"/>
            <a:ext cx="1078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Logistics 12%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8532" y="2286000"/>
            <a:ext cx="126187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9972" y="2331720"/>
            <a:ext cx="1078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Sales 12%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90404" y="2286000"/>
            <a:ext cx="630936" cy="502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21340" y="2286000"/>
            <a:ext cx="5257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91840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Purchase stock for retailer</a:t>
            </a:r>
          </a:p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orders &amp; BNPL financing</a:t>
            </a:r>
          </a:p>
        </p:txBody>
      </p:sp>
      <p:sp>
        <p:nvSpPr>
          <p:cNvPr id="15" name="Oval 14"/>
          <p:cNvSpPr/>
          <p:nvPr/>
        </p:nvSpPr>
        <p:spPr>
          <a:xfrm>
            <a:off x="2926080" y="329184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Delivery infrastructure</a:t>
            </a:r>
          </a:p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&amp; Sambaza integration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329184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Sales reps on ground,</a:t>
            </a:r>
          </a:p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retailer acquisition</a:t>
            </a:r>
          </a:p>
        </p:txBody>
      </p:sp>
      <p:sp>
        <p:nvSpPr>
          <p:cNvPr id="21" name="Oval 20"/>
          <p:cNvSpPr/>
          <p:nvPr/>
        </p:nvSpPr>
        <p:spPr>
          <a:xfrm>
            <a:off x="7315199" y="3291840"/>
            <a:ext cx="164592" cy="164592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Hosting, M-Pesa STK Push,</a:t>
            </a:r>
          </a:p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payment infrastructure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0" y="329184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Risk Buffer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Default protection,</a:t>
            </a:r>
          </a:p>
          <a:p>
            <a:pPr>
              <a:spcAft>
                <a:spcPts val="72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unexpected costs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30352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394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803D"/>
                </a:solidFill>
                <a:latin typeface="Calibri"/>
              </a:defRPr>
            </a:pPr>
            <a:r>
              <a:t>This is not a cash-burn startup. 65% of investment goes into revenue-generating inventory from day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90-day plan post-investment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2918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Launch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First inventory purchase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Hire 2 sales reps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Onboard 10 wholesalers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Activate M-Pesa payments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First 20 retailer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Scale &amp; BNPL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KYC first cohort of retailers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Launch BNPL to verified retailers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First international product imports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50+ active retailers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Track default rates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286000"/>
            <a:ext cx="3291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Optimize &amp; 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Expand product catalog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Add delivery logistics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100+ active retailers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Revenue run-rate data</a:t>
            </a:r>
          </a:p>
          <a:p>
            <a:pPr>
              <a:spcAft>
                <a:spcPts val="14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Prepare for seed 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6A34A"/>
            </a:gs>
            <a:gs pos="100000">
              <a:srgbClr val="1580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058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6A34A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Stocking them up.</a:t>
            </a:r>
            <a:br/>
            <a:r>
              <a:t>Backing them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FCE7"/>
                </a:solidFill>
                <a:latin typeface="Calibri"/>
              </a:defRPr>
            </a:pPr>
            <a:r>
              <a:t>The product is built. The model works. The market is massive.</a:t>
            </a:r>
            <a:br/>
            <a:r>
              <a:t>What we need is capital to move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26B32"/>
          </a:solidFill>
          <a:ln w="12700">
            <a:solidFill>
              <a:srgbClr val="1A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Let's talk.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F7D0"/>
                </a:solidFill>
                <a:latin typeface="Calibri"/>
              </a:defRPr>
            </a:pPr>
            <a:r>
              <a:t>ristoka.com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F7D0"/>
                </a:solidFill>
                <a:latin typeface="Calibri"/>
              </a:defRPr>
            </a:pPr>
            <a:r>
              <a:t>14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F7D0"/>
                </a:solidFill>
                <a:latin typeface="Calibri"/>
              </a:defRPr>
            </a:pPr>
            <a:r>
              <a:t>RISTOKA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